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EchoChamber는 실제 여론을 예측하거나 사실을 판정하는 도구가 아니다. 수집 자료와 가상 대화의 차이를 관찰하는 작은 연구 워크벤치다.</a:t>
            </a:r>
          </a:p>
          <a:p/>
          <a:p>
            <a:r>
              <a:t>검토 코드: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혐오 주석 데이터는 공격성에 관한 참고 라벨이다. 가십 여부나 사실성의 정답으로 취급하지 않는다.</a:t>
            </a:r>
          </a:p>
          <a:p/>
          <a:p>
            <a:r>
              <a:t>검토 코드:</a:t>
            </a:r>
          </a:p>
          <a:p>
            <a:r>
              <a:t>https://github.com/Min8309/echoChamber/blob/5b0ffce/frontend/src/RealDataLab.jsx</a:t>
            </a:r>
          </a:p>
          <a:p>
            <a:r>
              <a:t>https://github.com/Min8309/echoChamber/blob/5b0ffce/frontend/src/DiscussionResults.jsx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번에 수집·저장하는 자료 수와 토론에 선택하는 자료 수는 다르다. 묶음 토론에는 모든 인물과 자료가 최소 한 번 배정된다.</a:t>
            </a:r>
          </a:p>
          <a:p/>
          <a:p>
            <a:r>
              <a:t>검토 코드:</a:t>
            </a:r>
          </a:p>
          <a:p>
            <a:r>
              <a:t>https://github.com/Min8309/echoChamber/blob/5b0ffce/frontend/src/main.jsx</a:t>
            </a:r>
          </a:p>
          <a:p>
            <a:r>
              <a:t>https://github.com/Min8309/echoChamber/blob/5b0ffce/frontend/src/RealDataLab.jsx</a:t>
            </a:r>
          </a:p>
          <a:p>
            <a:r>
              <a:t>https://github.com/Min8309/echoChamber/blob/5b0ffce/app/routers/workbench.py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부정 감정 정렬은 이미 도착한 분석에만 의존한다. 검색은 기존 선택을 해제하지 않는다. 화면 예시는 합성 문장이다.</a:t>
            </a:r>
          </a:p>
          <a:p/>
          <a:p>
            <a:r>
              <a:t>검토 코드:</a:t>
            </a:r>
          </a:p>
          <a:p>
            <a:r>
              <a:t>https://github.com/Min8309/echoChamber/blob/5b0ffce/frontend/src/RealDataLab.jsx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Pages만으로 FastAPI를 실행할 수 없다. 실제 서비스는 Render Docker 배포를 사용한다. SQLite를 쓰는 현재 범위는 소규모 데모다.</a:t>
            </a:r>
          </a:p>
          <a:p/>
          <a:p>
            <a:r>
              <a:t>검토 코드:</a:t>
            </a:r>
          </a:p>
          <a:p>
            <a:r>
              <a:t>https://github.com/Min8309/echoChamber/blob/5b0ffce/Dockerfile</a:t>
            </a:r>
          </a:p>
          <a:p>
            <a:r>
              <a:t>https://github.com/Min8309/echoChamber/blob/5b0ffce/app/main.py</a:t>
            </a:r>
          </a:p>
          <a:p>
            <a:r>
              <a:t>https://github.com/Min8309/echoChamber/blob/5b0ffce/app/routers/workbench.py</a:t>
            </a:r>
          </a:p>
          <a:p>
            <a:r>
              <a:t>https://github.com/Min8309/echoChamber/blob/5b0ffce/app/services/runs.py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 API라고 모든 재사용이 허용되는 것은 아니다. YouTube 정책·자료 이용 권한을 확인해야 한다. KOLD의 별도 재배포 허용 범위를 확인하지 못해 자동 수집하지 않는다.</a:t>
            </a:r>
          </a:p>
          <a:p/>
          <a:p>
            <a:r>
              <a:t>검토 코드:</a:t>
            </a:r>
          </a:p>
          <a:p>
            <a:r>
              <a:t>https://github.com/Min8309/echoChamber/blob/5b0ffce/app/services/collection.py</a:t>
            </a:r>
          </a:p>
          <a:p>
            <a:r>
              <a:t>https://github.com/Min8309/echoChamber/blob/5b0ffce/app/routers/collection.py</a:t>
            </a:r>
          </a:p>
          <a:p>
            <a:r>
              <a:t>https://github.com/Min8309/echoChamber/blob/5b0ffce/frontend/src/researchImport.mjs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브라우저 접근 키는 계정 인증·암호화 저장을 대신하지 않는다. 저장소를 지우면 접근 복구가 안 된다. 사람 이름·주소 등 자동 마스킹이 놓치는 정보는 사용자 검토가 필요하다.</a:t>
            </a:r>
          </a:p>
          <a:p/>
          <a:p>
            <a:r>
              <a:t>검토 코드:</a:t>
            </a:r>
          </a:p>
          <a:p>
            <a:r>
              <a:t>https://github.com/Min8309/echoChamber/blob/5b0ffce/app/routers/datasets.py</a:t>
            </a:r>
          </a:p>
          <a:p>
            <a:r>
              <a:t>https://github.com/Min8309/echoChamber/blob/5b0ffce/app/services/datasets.py</a:t>
            </a:r>
          </a:p>
          <a:p>
            <a:r>
              <a:t>https://github.com/Min8309/echoChamber/blob/5b0ffce/app/services/data_access.py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이는 실행 가능한 알고리즘의 발췌다. 실제 대화는 자료 속 지시를 따르지 않도록 시스템 지시를 둔다. 자료 배정은 근거 인용 정확도를 자동 검증했다는 뜻이 아니다.</a:t>
            </a:r>
          </a:p>
          <a:p/>
          <a:p>
            <a:r>
              <a:t>검토 코드:</a:t>
            </a:r>
          </a:p>
          <a:p>
            <a:r>
              <a:t>https://github.com/Min8309/echoChamber/blob/5b0ffce/app/routers/workbench.py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클라이언트가 연결을 끊은 시점에 이미 서버 저장이 완료됐을 수 있다. 히스토리로 완료 여부를 다시 확인한다. SDK는 일반 응답을 받고 이를 발화 이벤트로 전달한다.</a:t>
            </a:r>
          </a:p>
          <a:p/>
          <a:p>
            <a:r>
              <a:t>검토 코드:</a:t>
            </a:r>
          </a:p>
          <a:p>
            <a:r>
              <a:t>https://github.com/Min8309/echoChamber/blob/5b0ffce/app/routers/workbench.py</a:t>
            </a:r>
          </a:p>
          <a:p>
            <a:r>
              <a:t>https://github.com/Min8309/echoChamber/blob/5b0ffce/frontend/src/main.jsx</a:t>
            </a:r>
          </a:p>
          <a:p>
            <a:r>
              <a:t>https://github.com/Min8309/echoChamber/blob/5b0ffce/frontend/src/components/Lab.jsx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마을은 임의의 배경 동영상이 아니다. 저장된 speaker/listener와 event.step을 이용해 이동 경로를 만든다. 캡처는 합성 자료와 규칙 모드다.</a:t>
            </a:r>
          </a:p>
          <a:p/>
          <a:p>
            <a:r>
              <a:t>검토 코드:</a:t>
            </a:r>
          </a:p>
          <a:p>
            <a:r>
              <a:t>https://github.com/Min8309/echoChamber/blob/5b0ffce/frontend/src/VillageScene.jsx</a:t>
            </a:r>
          </a:p>
          <a:p>
            <a:r>
              <a:t>https://github.com/Min8309/echoChamber/blob/5b0ffce/frontend/src/village/town.js</a:t>
            </a:r>
          </a:p>
          <a:p>
            <a:r>
              <a:t>https://github.com/Min8309/echoChamber/blob/5b0ffce/frontend/src/village/pixel-agents/pathfinding.js</a:t>
            </a:r>
          </a:p>
          <a:p>
            <a:r>
              <a:t>https://github.com/Min8309/echoChamber/blob/5b0ffce/frontend/public/assets/pixel-agents/LICENSE.txt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화면의 AI 감정은 규칙 모드에서 비어 있다. 이를 0% 감정으로 조작하지 않는다. 자료 배정 수는 실제 의미 이해나 정확한 인용의 증명이 아니다.</a:t>
            </a:r>
          </a:p>
          <a:p/>
          <a:p>
            <a:r>
              <a:t>검토 코드:</a:t>
            </a:r>
          </a:p>
          <a:p>
            <a:r>
              <a:t>https://github.com/Min8309/echoChamber/blob/5b0ffce/frontend/src/DiscussionResults.jsx</a:t>
            </a:r>
          </a:p>
          <a:p>
            <a:r>
              <a:t>https://github.com/Min8309/echoChamber/blob/5b0ffce/frontend/src/Comparison.jsx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묶음 토론에서는 선택한 원문만 비교 분모에 넣는다. 공격성 참고 라벨은 가십의 정답과 다르다. 문자열 변화에는 서로 다른 자료를 다루는 데 따른 주제 차이도 들어간다.</a:t>
            </a:r>
          </a:p>
          <a:p/>
          <a:p>
            <a:r>
              <a:t>검토 코드:</a:t>
            </a:r>
          </a:p>
          <a:p>
            <a:r>
              <a:t>https://github.com/Min8309/echoChamber/blob/5b0ffce/app/services/text_analysis.py</a:t>
            </a:r>
          </a:p>
          <a:p>
            <a:r>
              <a:t>https://github.com/Min8309/echoChamber/blob/5b0ffce/app/models/analysis.py</a:t>
            </a:r>
          </a:p>
          <a:p>
            <a:r>
              <a:t>https://github.com/Min8309/echoChamber/blob/5b0ffce/app/routers/datasets.py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DEMO_READ_ONLY는 에이전트·기억·메시지 직접 추가를 차단한다. 실험 결과 저장까지 막지 않는다. 자동 가림·로컬 접근 키는 완전한 개인정보 보호나 계정 권한 시스템을 보장하지 않는다.</a:t>
            </a:r>
          </a:p>
          <a:p/>
          <a:p>
            <a:r>
              <a:t>검토 코드:</a:t>
            </a:r>
          </a:p>
          <a:p>
            <a:r>
              <a:t>https://github.com/Min8309/echoChamber/blob/5b0ffce/app/services/limits.py</a:t>
            </a:r>
          </a:p>
          <a:p>
            <a:r>
              <a:t>https://github.com/Min8309/echoChamber/blob/5b0ffce/app/services/ai_client.py</a:t>
            </a:r>
          </a:p>
          <a:p>
            <a:r>
              <a:t>https://github.com/Min8309/echoChamber/blob/5b0ffce/app/services/collection.py</a:t>
            </a:r>
          </a:p>
          <a:p>
            <a:r>
              <a:t>https://github.com/Min8309/echoChamber/blob/5b0ffce/app/services/datasets.py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HTML 각 장의 코드 링크는 검토한 커밋에 고정한다. 구현과 설명을 함께 검토할 수 있게 상세 노트와 원본 생성 스크립트를 저장소에 포함한다.</a:t>
            </a:r>
          </a:p>
          <a:p/>
          <a:p>
            <a:r>
              <a:t>검토 코드:</a:t>
            </a:r>
          </a:p>
          <a:p>
            <a:r>
              <a:t>https://github.com/Min8309/echoChamber/blob/5b0ffce/frontend/src/main.jsx</a:t>
            </a:r>
          </a:p>
          <a:p>
            <a:r>
              <a:t>https://github.com/Min8309/echoChamber/blob/5b0ffce/frontend/src/RealDataLab.jsx</a:t>
            </a:r>
          </a:p>
          <a:p>
            <a:r>
              <a:t>https://github.com/Min8309/echoChamber/blob/5b0ffce/app/routers/workbench.py</a:t>
            </a:r>
          </a:p>
          <a:p>
            <a:r>
              <a:t>https://github.com/Min8309/echoChamber/blob/5b0ffce/app/services/collection.py</a:t>
            </a:r>
          </a:p>
          <a:p>
            <a:r>
              <a:t>https://github.com/Min8309/echoChamber/blob/5b0ffce/frontend/src/DiscussionResults.jsx</a:t>
            </a:r>
          </a:p>
          <a:p>
            <a:r>
              <a:t>https://github.com/Min8309/echoChamber/blob/5b0ffce/app/services/runs.py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34개 서버 테스트와 10개 Node 테스트는 현재 코드 검증 범위다. UI 스크린샷은 합성 자료로 촬영했다. 실제 AI 모드는 테스트 대역으로 경로와 호출 수를 확인했으며 모델 정확도 평가가 아니다.</a:t>
            </a:r>
          </a:p>
          <a:p/>
          <a:p>
            <a:r>
              <a:t>검토 코드:</a:t>
            </a:r>
          </a:p>
          <a:p>
            <a:r>
              <a:t>https://github.com/Min8309/echoChamber/blob/5b0ffce/tests/test_discussion.py</a:t>
            </a:r>
          </a:p>
          <a:p>
            <a:r>
              <a:t>https://github.com/Min8309/echoChamber/blob/5b0ffce/tests/browser_discussion.py</a:t>
            </a:r>
          </a:p>
          <a:p>
            <a:r>
              <a:t>https://github.com/Min8309/echoChamber/blob/5b0ffce/tests/test_protection.py</a:t>
            </a:r>
          </a:p>
          <a:p>
            <a:r>
              <a:t>https://github.com/Min8309/echoChamber/blob/5b0ffce/tests/test_collection.py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확장은 현재 구현과 구분한 제안이다. 무료 인스턴스의 로컬 SQLite는 재배포 때 소실될 수 있어 영속 디스크가 필요하다. 실제 AI 대화는 서버 키 설정 후 선택한다.</a:t>
            </a:r>
          </a:p>
          <a:p/>
          <a:p>
            <a:r>
              <a:t>검토 코드:</a:t>
            </a:r>
          </a:p>
          <a:p>
            <a:r>
              <a:t>https://github.com/Min8309/echoChamber/blob/5b0ffce/.env.example</a:t>
            </a:r>
          </a:p>
          <a:p>
            <a:r>
              <a:t>https://github.com/Min8309/echoChamber/blob/5b0ffce/render.yaml</a:t>
            </a:r>
          </a:p>
          <a:p>
            <a:r>
              <a:t>https://github.com/Min8309/echoChamber/blob/5b0ffce/app/services/research_report.py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ECHOCHAMBER / PROJECT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4233F"/>
                </a:solidFill>
                <a:latin typeface="Noto Sans CJK KR"/>
              </a:defRPr>
            </a:pPr>
            <a:r>
              <a:t>실제 목소리를,</a:t>
            </a:r>
          </a:p>
          <a:p>
            <a:pPr>
              <a:spcAft>
                <a:spcPts val="600"/>
              </a:spcAft>
              <a:defRPr sz="3600" b="1">
                <a:solidFill>
                  <a:srgbClr val="14233F"/>
                </a:solidFill>
                <a:latin typeface="Noto Sans CJK KR"/>
              </a:defRPr>
            </a:pPr>
            <a:r>
              <a:t>가상 마을에서 실험하다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실제 댓글·리뷰 → 자료 선별 → 3~4인 토론 → 대화 흐름 시각화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8036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핵심 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실제 텍스트와 가상 대화를 같은 기준으로 비교하는 AI 실험 도구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6344" y="288036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4" y="306324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구현 기반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9224" y="361188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React · FastAPI · SQLite · OpenAI · Canvas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9768" y="288036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2648" y="306324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발표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648" y="361188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현재 구현 코드 검토본 · 2026.10.27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01 / CORE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어떤 정보가, 누구의 대화에서 달라지는가?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원문과 시뮬레이션을 연결해 관찰 가능한 실험으로 만든다.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39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YouTube 공개 댓글·답글, K-HATERS 표본, 사용자가 제공한 리뷰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6344" y="233172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4" y="251460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관찰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9224" y="3063239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인물별 발언과 이번 참고 자료, 대화 단계, AI 감정·확실성 분류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9768" y="233172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2648" y="251460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648" y="3063239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선택한 원문과 가상 발화의 수치·관계망·히스토리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frontend/src/RealDataLab.jsx  ·  frontend/src/DiscussionResults.jsx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02 /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수집에서 시각화까지, 한 흐름으로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기존 마을 디자인을 유지하고 실제 데이터를 첫 화면에 배치했다.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2264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01 수집·가져오기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2331720"/>
            <a:ext cx="2112264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02 익명화·저장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46904" y="2331720"/>
            <a:ext cx="2112264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8344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03 정렬·최대 10건 선택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8896" y="2331720"/>
            <a:ext cx="2112264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04 3~4인 토론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0888" y="2331720"/>
            <a:ext cx="2112264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05 분석·비교·다운로드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79"/>
            <a:ext cx="5495544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수집 30건 / 토론 10건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5129783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미리보기 후 확인한 자료만 저장하고, 선택 순서대로 토론 자료를 고정한다.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383279"/>
            <a:ext cx="5495544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3566160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단계 1~20회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4114800"/>
            <a:ext cx="5129783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묶음 토론은 단계 수가 자료 수와 참여 인원 이상이어야 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frontend/src/main.jsx  ·  frontend/src/RealDataLab.jsx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03 / REAL DATA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실제 자료를 먼저 정리한다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정렬·검색·선별 후, 자료 묶음을 마을로 전달한다.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67665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48606"/>
            <a:ext cx="6583680" cy="14238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2331720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66CC"/>
                </a:solidFill>
                <a:latin typeface="Noto Sans CJK KR"/>
              </a:defRPr>
            </a:pPr>
            <a:r>
              <a:t>정렬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743200"/>
            <a:ext cx="3977639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38C"/>
                </a:solidFill>
                <a:latin typeface="Noto Sans CJK KR"/>
              </a:defRPr>
            </a:pPr>
            <a:r>
              <a:t>수집 순서 · 긴 문장 · AI 부정 감정 · 높은 별점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520439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66CC"/>
                </a:solidFill>
                <a:latin typeface="Noto Sans CJK KR"/>
              </a:defRPr>
            </a:pPr>
            <a:r>
              <a:t>선별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931920"/>
            <a:ext cx="3977639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38C"/>
                </a:solidFill>
                <a:latin typeface="Noto Sans CJK KR"/>
              </a:defRPr>
            </a:pPr>
            <a:r>
              <a:t>문장 검색과 체크박스 / 최대 10건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709160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66CC"/>
                </a:solidFill>
                <a:latin typeface="Noto Sans CJK KR"/>
              </a:defRPr>
            </a:pPr>
            <a:r>
              <a:t>모드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5120640"/>
            <a:ext cx="3977639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38C"/>
                </a:solidFill>
                <a:latin typeface="Noto Sans CJK KR"/>
              </a:defRPr>
            </a:pPr>
            <a:r>
              <a:t>3명 또는 4명 / 4번째 인물은 실행 전용 가상 자료 검토자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frontend/src/RealDataLab.jsx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04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화면·실행·분석·저장을 분리한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FastAPI가 React 정적 빌드와 API를 같은 Origin에서 제공한다.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667762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78024"/>
            <a:ext cx="2484882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React /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0410" y="2331720"/>
            <a:ext cx="2667762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1850" y="2478024"/>
            <a:ext cx="2484882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FastAPI / Pydantic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7900" y="2331720"/>
            <a:ext cx="2667762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9340" y="2478024"/>
            <a:ext cx="2484882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Simulation +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390" y="2331720"/>
            <a:ext cx="2667762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26830" y="2478024"/>
            <a:ext cx="2484882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SQLite / Snapshots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83279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외부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YouTube Data API v3 · Hugging Face 데이터 뷰어 · 브라우저 파일 읽기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6344" y="3383279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9224" y="356616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실시간 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9224" y="411480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POST /api/runs/stream → SSE 이벤트 → React 상태 → Canvas·말풍선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9768" y="3383279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2648" y="356616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영속화 경로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2648" y="411480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완료 실행만 트랜잭션 저장 → 접근 키로 비공개 실행 조회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Dockerfile  ·  app/main.py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05 /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공식 API와 연구 파일을 구분해 연결한다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자유로운 URL 크롤링 대신 고정된 수집 경로와 작은 호출 한도를 사용한다.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YouTube 공식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39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commentThreads.list + comments.list / 실제 부모-답글 관계 유지 / 서버 전용 YOUTUBE_API_KEY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6344" y="233172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4" y="251460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K-HATERS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9224" y="3063239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humane-lab/K-HATERS / splits·rows 조회 / CC BY 4.0 출처·변경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9768" y="233172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2648" y="251460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KOLD 파일 가져오기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648" y="3063239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공식 JSON/JSONL을 사용자가 확보 / 원본 주석자 ID 제거 / 서버 자동 재배포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app/services/collection.py  ·  app/routers/collection.py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06 / DATA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자료·대화·분석을 연결하는 데이터 계약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브라우저에서 가림 처리하고 서버에서도 다시 정리한다.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7040880" cy="3474720"/>
          </a:xfrm>
          <a:prstGeom prst="round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58368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X-Dataset-Key: &lt;브라우저 생성 64자리 hex&gt;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→ 서버에는 owner hash 저장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→ dataset과 연결 run은 owner로 조회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→ source_data.rows에 선택 자료 스냅샷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31720"/>
            <a:ext cx="3794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66CC"/>
                </a:solidFill>
                <a:latin typeface="Noto Sans CJK KR"/>
              </a:defRPr>
            </a:pPr>
            <a:r>
              <a:t>DatasetRow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97479"/>
            <a:ext cx="3794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38C"/>
                </a:solidFill>
                <a:latin typeface="Noto Sans CJK KR"/>
              </a:defRPr>
            </a:pPr>
            <a:r>
              <a:t>text · author · reply_to_id · rating · date · reference_labels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474720"/>
            <a:ext cx="3794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66CC"/>
                </a:solidFill>
                <a:latin typeface="Noto Sans CJK KR"/>
              </a:defRPr>
            </a:pPr>
            <a:r>
              <a:t>Source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794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38C"/>
                </a:solidFill>
                <a:latin typeface="Noto Sans CJK KR"/>
              </a:defRPr>
            </a:pPr>
            <a:r>
              <a:t>선택한 row_id·text·analysis·origin을 실행 당시 자료로 보존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617720"/>
            <a:ext cx="3794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66CC"/>
                </a:solidFill>
                <a:latin typeface="Noto Sans CJK KR"/>
              </a:defRPr>
            </a:pPr>
            <a:r>
              <a:t>Run /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983480"/>
            <a:ext cx="3794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38C"/>
                </a:solidFill>
                <a:latin typeface="Noto Sans CJK KR"/>
              </a:defRPr>
            </a:pPr>
            <a:r>
              <a:t>speaker_id · listener_id · utterance · discussion_stage · source_row_ids ·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app/routers/datasets.py  ·  app/services/datasets.py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07 / DISCUSSION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인물과 자료를 번갈아 배정한다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자료 요약 → 근거 점검 → 다른 관점 → 종합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7040880" cy="3474720"/>
          </a:xfrm>
          <a:prstGeom prst="round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58368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speaker = roster[(step - 1) % len(roster)]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listener = roster[step % len(roster)]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evidence = source["rows"][(step - 1) % len(source["rows"])]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# OpenAI 입력: 전체 선택 자료 + 최근 4개 발언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# 단계마다 대화 생성 1회 + 구조화 분석 1회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31720"/>
            <a:ext cx="3794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66CC"/>
                </a:solidFill>
                <a:latin typeface="Noto Sans CJK KR"/>
              </a:defRPr>
            </a:pPr>
            <a:r>
              <a:t>OpenAI 모드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97479"/>
            <a:ext cx="3794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38C"/>
                </a:solidFill>
                <a:latin typeface="Noto Sans CJK KR"/>
              </a:defRPr>
            </a:pPr>
            <a:r>
              <a:t>인물 성향과 단계 과제를 제공하고 이전 발언에 반응하도록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474720"/>
            <a:ext cx="3794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66CC"/>
                </a:solidFill>
                <a:latin typeface="Noto Sans CJK KR"/>
              </a:defRPr>
            </a:pPr>
            <a:r>
              <a:t>규칙 모드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794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38C"/>
                </a:solidFill>
                <a:latin typeface="Noto Sans CJK KR"/>
              </a:defRPr>
            </a:pPr>
            <a:r>
              <a:t>자료 인용·확인 필요 문구의 템플릿 / AI 토론으로 표시하지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app/routers/workbench.py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08 / 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발화를 먼저 보여주고, 분석을 나중에 합친다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토큰 스트리밍이 아니라 완성된 발화 단위의 SSE다.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2264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2331720"/>
            <a:ext cx="2112264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46904" y="2331720"/>
            <a:ext cx="2112264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8344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8896" y="2331720"/>
            <a:ext cx="2112264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… 반복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0888" y="2331720"/>
            <a:ext cx="2112264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complete /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79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start /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실행·인물 초기화 → 대화와 관계망 갱신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6344" y="3383279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9224" y="356616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9224" y="411480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같은 단계 말풍선에 감정·확실성·평판 영향 병합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9768" y="3383279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2648" y="356616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complete /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2648" y="411480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성공한 실행 저장 / 실패·중단 시 부분 실행 저장하지 않음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app/routers/workbench.py  ·  frontend/src/main.jsx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09 / PIXEL VILLAGE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실제 발언 기록이 마을의 움직임이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Canvas·프레임 루프·BFS 경로 탐색을 대화 단계와 동기화한다.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67665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ll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518" y="2377439"/>
            <a:ext cx="474936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2331720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66CC"/>
                </a:solidFill>
                <a:latin typeface="Noto Sans CJK KR"/>
              </a:defRPr>
            </a:pPr>
            <a:r>
              <a:t>24 × 18 타일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743200"/>
            <a:ext cx="3977639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38C"/>
                </a:solidFill>
                <a:latin typeface="Noto Sans CJK KR"/>
              </a:defRPr>
            </a:pPr>
            <a:r>
              <a:t>카페 · 도서관 · 광장 / 장애물을 피하는 4방향 경로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520439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66CC"/>
                </a:solidFill>
                <a:latin typeface="Noto Sans CJK KR"/>
              </a:defRPr>
            </a:pPr>
            <a:r>
              <a:t>발언자 → 청자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931920"/>
            <a:ext cx="3977639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38C"/>
                </a:solidFill>
                <a:latin typeface="Noto Sans CJK KR"/>
              </a:defRPr>
            </a:pPr>
            <a:r>
              <a:t>두 인물의 만남·말풍선·현재 단계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709160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66CC"/>
                </a:solidFill>
                <a:latin typeface="Noto Sans CJK KR"/>
              </a:defRPr>
            </a:pPr>
            <a:r>
              <a:t>출처 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5120640"/>
            <a:ext cx="3977639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38C"/>
                </a:solidFill>
                <a:latin typeface="Noto Sans CJK KR"/>
              </a:defRPr>
            </a:pPr>
            <a:r>
              <a:t>Pixel Agents 이식 코드·스프라이트: MIT 고지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frontend/src/VillageScene.jsx  ·  frontend/src/village/town.js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10 / VISUAL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참여·자료 배정·변화를 수치로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대화 타임라인과 관계망을 함께 읽는다.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67665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scu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103" y="2377439"/>
            <a:ext cx="5224192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2331720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66CC"/>
                </a:solidFill>
                <a:latin typeface="Noto Sans CJK KR"/>
              </a:defRPr>
            </a:pPr>
            <a:r>
              <a:t>참여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743200"/>
            <a:ext cx="3977639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38C"/>
                </a:solidFill>
                <a:latin typeface="Noto Sans CJK KR"/>
              </a:defRPr>
            </a:pPr>
            <a:r>
              <a:t>인물별 발언 횟수 / AI 분석 완료 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520439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66CC"/>
                </a:solidFill>
                <a:latin typeface="Noto Sans CJK KR"/>
              </a:defRPr>
            </a:pPr>
            <a:r>
              <a:t>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931920"/>
            <a:ext cx="3977639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38C"/>
                </a:solidFill>
                <a:latin typeface="Noto Sans CJK KR"/>
              </a:defRPr>
            </a:pPr>
            <a:r>
              <a:t>검토 자료 배정 수 / 선택 자료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709160"/>
            <a:ext cx="397763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66CC"/>
                </a:solidFill>
                <a:latin typeface="Noto Sans CJK KR"/>
              </a:defRPr>
            </a:pPr>
            <a:r>
              <a:t>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5120640"/>
            <a:ext cx="3977639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2738C"/>
                </a:solidFill>
                <a:latin typeface="Noto Sans CJK KR"/>
              </a:defRPr>
            </a:pPr>
            <a:r>
              <a:t>단계별 신뢰도·문자열 변화 / AI 감정 분포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frontend/src/DiscussionResults.jsx  ·  frontend/src/Comparison.jsx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11 / ANALYSIS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기초 통계와 AI 의미 분류를 구분한다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같은 분석 함수·모델·버전일 때만 AI 수치를 직접 비교한다.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7040880" cy="3474720"/>
          </a:xfrm>
          <a:prstGeom prst="roundRect">
            <a:avLst/>
          </a:prstGeom>
          <a:solidFill>
            <a:srgbClr val="14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658368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ANALYSIS_VERSION = "text-v1"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client.responses.parse(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    model=analysis_model(),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    text_format=DialogueAnalysis, ...</a:t>
            </a:r>
          </a:p>
          <a:p>
            <a:pPr>
              <a:spcAft>
                <a:spcPts val="600"/>
              </a:spcAft>
              <a:defRPr sz="1400" b="0">
                <a:solidFill>
                  <a:srgbClr val="E4ECFA"/>
                </a:solidFill>
                <a:latin typeface="Noto Sans Mono CJK KR"/>
              </a:defRPr>
            </a:pPr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31720"/>
            <a:ext cx="3794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66CC"/>
                </a:solidFill>
                <a:latin typeface="Noto Sans CJK KR"/>
              </a:defRPr>
            </a:pPr>
            <a:r>
              <a:t>기초 지표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97479"/>
            <a:ext cx="3794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38C"/>
                </a:solidFill>
                <a:latin typeface="Noto Sans CJK KR"/>
              </a:defRPr>
            </a:pPr>
            <a:r>
              <a:t>표본 수 · 평균 글자 수 · 질문·전언 표현 비율 / 문자열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474720"/>
            <a:ext cx="3794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66CC"/>
                </a:solidFill>
                <a:latin typeface="Noto Sans CJK KR"/>
              </a:defRPr>
            </a:pPr>
            <a:r>
              <a:t>AI 의미 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840480"/>
            <a:ext cx="3794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38C"/>
                </a:solidFill>
                <a:latin typeface="Noto Sans CJK KR"/>
              </a:defRPr>
            </a:pPr>
            <a:r>
              <a:t>가십 · 감정 · 확실성 · 평판 영향 / DialogueAnalysis 구조화 응답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617720"/>
            <a:ext cx="3794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66CC"/>
                </a:solidFill>
                <a:latin typeface="Noto Sans CJK KR"/>
              </a:defRPr>
            </a:pPr>
            <a:r>
              <a:t>해석의 경계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983480"/>
            <a:ext cx="3794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38C"/>
                </a:solidFill>
                <a:latin typeface="Noto Sans CJK KR"/>
              </a:defRPr>
            </a:pPr>
            <a:r>
              <a:t>신뢰도는 성향 기반 감쇠 / 변화율은 문자열 차이 / 외부 사실 검증 아님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app/services/text_analysis.py  ·  app/models/analysis.py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12 / COST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작은 공개 데모를 위한 사용량·접근 보호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요청 횟수와 실제 SDK 시도를 별도로 제한한다.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LLM 예산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39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IP당 시간당 10요청 / 서버 UTC 일일 100 SDK 시도 기본값 / 토큰·금액 한도 아님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6344" y="233172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4" y="251460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수집 예산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9224" y="3063239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시간당 10요청 / 일일 외부 HTTP 200회 / 수집당 최대 10회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9768" y="2331720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2648" y="251460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접근·수명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648" y="3063239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비공개 자료와 연결 실험 owner 조회 / YouTube 자료 29일 만료·연결 실험 삭제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app/services/limits.py  ·  app/services/ai_client.py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13 / CODE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핵심 코드와 책임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프로젝트를 설명할 때 바로 열어볼 구현 위치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495544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화면·선별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39"/>
            <a:ext cx="5129783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main.jsx: SSE·화면 전환 / RealDataLab.jsx: 정렬·선택·비교·내보내기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2331720"/>
            <a:ext cx="5495544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2514600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실행·분석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3063239"/>
            <a:ext cx="5129783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workbench.py: 자료 확인·인물 배정·생성·분석·저장 / text_analysis.py: 공통 분류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05072"/>
            <a:ext cx="5495544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87952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수집·보호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36592"/>
            <a:ext cx="5129783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collection.py: 고정 공급자·출처 서명·쿼터 / data_access.py: owner 경계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4005072"/>
            <a:ext cx="5495544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4187952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시각화·저장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736592"/>
            <a:ext cx="5129783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DiscussionResults.jsx: 지표·차트 / VillageScene.jsx: 마을 / runs.py·datasets.py: 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frontend/src/main.jsx  ·  frontend/src/RealDataLab.jsx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14 /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확인한 것과 아직 보장하지 않는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동작 검증과 모델 성능 검증을 구분한다.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495544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자동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39"/>
            <a:ext cx="5129783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서버 테스트 34개 · Node 테스트 10개 / 임시 DB·HTTP·모의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2331720"/>
            <a:ext cx="5495544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2514600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브라우저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3063239"/>
            <a:ext cx="5129783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선별 → 4인 실행 → SSE → 그래프 → 비교 / 모바일·기존 기능 회귀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05072"/>
            <a:ext cx="5495544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87952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실서비스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36592"/>
            <a:ext cx="5129783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K-HATERS 실제 수집·저장·4인 규칙 실행·비공개 비교·테스트 자료 삭제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4005072"/>
            <a:ext cx="5495544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4187952"/>
            <a:ext cx="5129783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736592"/>
            <a:ext cx="5129783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실제 OpenAI 응답 품질·유튜브 키 유효성·분류 정확도·대규모 부하를 검증한 수치가 아님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tests/test_discussion.py  ·  tests/browser_discussion.py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366CC"/>
                </a:solidFill>
                <a:latin typeface="Noto Sans CJK KR"/>
              </a:defRPr>
            </a:pPr>
            <a:r>
              <a:t>15 / DEMO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33F"/>
                </a:solidFill>
                <a:latin typeface="Noto Sans CJK KR"/>
              </a:defRPr>
            </a:pPr>
            <a:r>
              <a:t>데모는 작은 자료 묶음 하나로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실험의 출처·설정·결과를 함께 설명한다.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2264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자료 3건 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2331720"/>
            <a:ext cx="2112264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정렬·선택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46904" y="2331720"/>
            <a:ext cx="2112264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8344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3~4명 / 4~8단계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8896" y="2331720"/>
            <a:ext cx="2112264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대화·자료 배정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0888" y="2331720"/>
            <a:ext cx="2112264" cy="73152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2478024"/>
            <a:ext cx="192938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비교·다운로드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79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필수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수집: YOUTUBE_API_KEY / AI: OPENAI_API_KEY 또는 ECHOCHAMBER_API_KEY / 선택: 영속 SQLite 경로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6344" y="3383279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9224" y="356616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현재 다운로드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9224" y="411480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CSV: 실제 자료 행 / JSON·HTML: 분석과 선택한 비교 수치 / .ppt·.pptx: 이 발표 자료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9768" y="3383279"/>
            <a:ext cx="3608832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2648" y="3566160"/>
            <a:ext cx="3243072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366CC"/>
                </a:solidFill>
                <a:latin typeface="Noto Sans CJK KR"/>
              </a:defRPr>
            </a:pPr>
            <a:r>
              <a:t>다음 확장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2648" y="4114800"/>
            <a:ext cx="3243072" cy="1463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2738C"/>
                </a:solidFill>
                <a:latin typeface="Noto Sans CJK KR"/>
              </a:defRPr>
            </a:pPr>
            <a:r>
              <a:t>명시적 계정 권한 · 사람 평가셋 · 출처 인용 검증 · 토큰/비용 예산 · PostgreSQL / 작업 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3620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2738C"/>
                </a:solidFill>
                <a:latin typeface="Noto Sans CJK KR"/>
              </a:defRPr>
            </a:pPr>
            <a:r>
              <a:t>CODE  .env.example  ·  render.yaml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2738C"/>
                </a:solidFill>
                <a:latin typeface="Noto Sans CJK KR"/>
              </a:defRPr>
            </a:pPr>
            <a:r>
              <a:t>EchoChamber  /  SOURCE 5b0ffce  /  2026-10-27  /  화면: 합성 자료·규칙 모드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366CC"/>
                </a:solidFill>
                <a:latin typeface="Noto Sans CJK KR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EchoChamber — 실제 데이터와 가상 마을 토론</dc:title>
  <dc:subject>프로젝트 핵심 주제·구조·코드·검증 범위</dc:subject>
  <dc:creator>EchoChamber project</dc:creator>
  <cp:keywords>React, FastAPI, SQLite, SSE, OpenAI, Pixel Agents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